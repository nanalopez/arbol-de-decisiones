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7.png"/><Relationship Id="rId12" Type="http://schemas.openxmlformats.org/officeDocument/2006/relationships/image" Target="../media/image-5-8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003622"/>
            <a:ext cx="4634954" cy="1446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Predicción del riesgo de infarto cardíaco mediante Inteligencia Artificial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0023" y="2511921"/>
            <a:ext cx="463495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Árbol de decisión para la clasificación del riesgo cardiovascular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0023" y="3225552"/>
            <a:ext cx="4634954" cy="91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5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Yuliana Arango López · Tecnológica del Oriente · Electiva – Inteligencia Artificial Avanzada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Carlos Carrascal Avendaño · 07 de agosto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60995"/>
            <a:ext cx="815355" cy="227112"/>
          </a:xfrm>
          <a:prstGeom prst="roundRect">
            <a:avLst>
              <a:gd name="adj" fmla="val 2211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629692" y="505792"/>
            <a:ext cx="109321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0023" y="746001"/>
            <a:ext cx="8063954" cy="4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spc="-8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problema cardiovascular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0023" y="1430313"/>
            <a:ext cx="2591395" cy="1099617"/>
          </a:xfrm>
          <a:prstGeom prst="roundRect">
            <a:avLst>
              <a:gd name="adj" fmla="val 571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209" y="1584499"/>
            <a:ext cx="2283023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1ª causa de muerte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94209" y="1904851"/>
            <a:ext cx="2283023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Enfermedades cardiovasculares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6228" y="1430313"/>
            <a:ext cx="2591470" cy="1099617"/>
          </a:xfrm>
          <a:prstGeom prst="roundRect">
            <a:avLst>
              <a:gd name="adj" fmla="val 571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0414" y="1584499"/>
            <a:ext cx="2283098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Detección tardía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30414" y="1904851"/>
            <a:ext cx="2283098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diagnóstico oportuno salva vidas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12507" y="1430313"/>
            <a:ext cx="2591395" cy="1099617"/>
          </a:xfrm>
          <a:prstGeom prst="roundRect">
            <a:avLst>
              <a:gd name="adj" fmla="val 571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6693" y="1584499"/>
            <a:ext cx="2283023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Subdiagnóstico femenino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166693" y="1904851"/>
            <a:ext cx="2283023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Síntomas atípicos dificultan la detección</a:t>
            </a:r>
            <a:endParaRPr lang="en-US" sz="11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8367" y="2692822"/>
            <a:ext cx="2887266" cy="198968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200710" y="3930873"/>
            <a:ext cx="788995" cy="105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spc="-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Datos clínicos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873046" y="3095344"/>
            <a:ext cx="814627" cy="105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spc="-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Modelo de IA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419906" y="4175577"/>
            <a:ext cx="788994" cy="210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spc="-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Predicción de riesgo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5120268" y="3315291"/>
            <a:ext cx="788994" cy="105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spc="-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Apoyo a la decisión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750615"/>
            <a:ext cx="844302" cy="234479"/>
          </a:xfrm>
          <a:prstGeom prst="roundRect">
            <a:avLst>
              <a:gd name="adj" fmla="val 22111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796900"/>
            <a:ext cx="111636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046783"/>
            <a:ext cx="806395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buscamos lograr?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1451" y="1933947"/>
            <a:ext cx="7832527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Desarrollar y evaluar un árbol de decisión capaz de estimar el riesgo de infarto cardíaco a partir de variables clínicas.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0023" y="1760413"/>
            <a:ext cx="19050" cy="840879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023" y="2774826"/>
            <a:ext cx="2585145" cy="16179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40024" y="2890540"/>
            <a:ext cx="185142" cy="2314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spc="-3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3333" y="3392016"/>
            <a:ext cx="223852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Entrenar y optimizar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333" y="3725689"/>
            <a:ext cx="223852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Ajustar hiperparámetros del modelo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9428" y="2774826"/>
            <a:ext cx="2585145" cy="16179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79429" y="2890540"/>
            <a:ext cx="185142" cy="2314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spc="-3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52738" y="3392016"/>
            <a:ext cx="223852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Evaluar desempeño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52738" y="3725689"/>
            <a:ext cx="223852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de clasificación estándar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8833" y="2774826"/>
            <a:ext cx="2585145" cy="16179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18834" y="2890540"/>
            <a:ext cx="185142" cy="2314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spc="-3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192143" y="3392016"/>
            <a:ext cx="223852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Analizar equidad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92143" y="3725689"/>
            <a:ext cx="223852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Perspectiva diferenciada por sexo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27732"/>
            <a:ext cx="542627" cy="219819"/>
          </a:xfrm>
          <a:prstGeom prst="roundRect">
            <a:avLst>
              <a:gd name="adj" fmla="val 2211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626790" y="471115"/>
            <a:ext cx="826294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0023" y="701799"/>
            <a:ext cx="8063954" cy="452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spc="-8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Cleveland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509787"/>
            <a:ext cx="3855541" cy="3053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3198" y="1492821"/>
            <a:ext cx="3855541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4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Características del dataset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3198" y="1854398"/>
            <a:ext cx="3855541" cy="76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294 pacientes</a:t>
            </a:r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14 variables originales</a:t>
            </a:r>
            <a:endParaRPr lang="en-US" sz="1100" dirty="0"/>
          </a:p>
          <a:p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 predictoras</a:t>
            </a:r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tras limpieza</a:t>
            </a:r>
            <a:endParaRPr lang="en-US" sz="1100" dirty="0"/>
          </a:p>
          <a:p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63.9%</a:t>
            </a:r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 riesgo · </a:t>
            </a:r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36.1%</a:t>
            </a:r>
            <a:pPr algn="l" marL="223520" indent="-223520">
              <a:lnSpc>
                <a:spcPct val="129000"/>
              </a:lnSpc>
              <a:buSzPct val="100000"/>
              <a:buChar char="•"/>
            </a:pPr>
            <a:r>
              <a:rPr lang="en-US" sz="110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 riesgo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3198" y="2774379"/>
            <a:ext cx="3855541" cy="764828"/>
          </a:xfrm>
          <a:prstGeom prst="roundRect">
            <a:avLst>
              <a:gd name="adj" fmla="val 7944"/>
            </a:avLst>
          </a:prstGeom>
          <a:solidFill>
            <a:srgbClr val="FCF2B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859" y="2981474"/>
            <a:ext cx="180826" cy="1446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23346" y="2932584"/>
            <a:ext cx="3240732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-23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eliminadas por datos faltantes: </a:t>
            </a:r>
            <a:pPr algn="l" indent="0" marL="0">
              <a:lnSpc>
                <a:spcPct val="129000"/>
              </a:lnSpc>
              <a:buNone/>
            </a:pPr>
            <a:r>
              <a:rPr lang="en-US" sz="1100" b="1" spc="-2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 (99%)</a:t>
            </a:r>
            <a:pPr algn="l" indent="0" marL="0">
              <a:lnSpc>
                <a:spcPct val="129000"/>
              </a:lnSpc>
              <a:buNone/>
            </a:pPr>
            <a:r>
              <a:rPr lang="en-US" sz="1100" spc="-23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29000"/>
              </a:lnSpc>
              <a:buNone/>
            </a:pPr>
            <a:r>
              <a:rPr lang="en-US" sz="1100" b="1" spc="-2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thal (90.5%)</a:t>
            </a:r>
            <a:pPr algn="l" indent="0" marL="0">
              <a:lnSpc>
                <a:spcPct val="129000"/>
              </a:lnSpc>
              <a:buNone/>
            </a:pPr>
            <a:r>
              <a:rPr lang="en-US" sz="1100" spc="-23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29000"/>
              </a:lnSpc>
              <a:buNone/>
            </a:pPr>
            <a:r>
              <a:rPr lang="en-US" sz="1100" b="1" spc="-2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slope (64.6%)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589062"/>
            <a:ext cx="820713" cy="234479"/>
          </a:xfrm>
          <a:prstGeom prst="roundRect">
            <a:avLst>
              <a:gd name="adj" fmla="val 22111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635347"/>
            <a:ext cx="1092771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885230"/>
            <a:ext cx="806395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Las 10 variables predictoras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023" y="1799332"/>
            <a:ext cx="231428" cy="2314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5711" y="1806104"/>
            <a:ext cx="345809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Edad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23" y="2382738"/>
            <a:ext cx="231428" cy="2314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5711" y="2389510"/>
            <a:ext cx="345809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Sexo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023" y="2966145"/>
            <a:ext cx="231428" cy="2314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5711" y="2972916"/>
            <a:ext cx="345809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Dolor torácico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0023" y="3549551"/>
            <a:ext cx="231428" cy="2314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5711" y="3556322"/>
            <a:ext cx="345809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Presión arterial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0023" y="4132957"/>
            <a:ext cx="231428" cy="23142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5711" y="4139729"/>
            <a:ext cx="345809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Colesterol</a:t>
            </a:r>
            <a:endParaRPr lang="en-US" sz="15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64956" y="1799332"/>
            <a:ext cx="231428" cy="2314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50644" y="1806104"/>
            <a:ext cx="345809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Glucemia en ayunas</a:t>
            </a:r>
            <a:endParaRPr lang="en-US" sz="15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64956" y="2382738"/>
            <a:ext cx="231428" cy="23142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150644" y="2389510"/>
            <a:ext cx="345809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ECG en reposo</a:t>
            </a:r>
            <a:endParaRPr lang="en-US" sz="15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64956" y="2966145"/>
            <a:ext cx="231428" cy="23142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150644" y="2972916"/>
            <a:ext cx="345809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Frecuencia cardíaca máx.</a:t>
            </a:r>
            <a:endParaRPr lang="en-US" sz="15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64956" y="3549551"/>
            <a:ext cx="231428" cy="23142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150644" y="3556322"/>
            <a:ext cx="345809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Angina por ejercicio</a:t>
            </a:r>
            <a:endParaRPr lang="en-US" sz="15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64956" y="4132957"/>
            <a:ext cx="231428" cy="231428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150644" y="4139729"/>
            <a:ext cx="345809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Depresión ST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24309"/>
            <a:ext cx="348183" cy="117202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86308" y="447452"/>
            <a:ext cx="712812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540023" y="556915"/>
            <a:ext cx="806395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¿Por qué un árbol de decisión?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899220"/>
            <a:ext cx="3937918" cy="39379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70822" y="2595786"/>
            <a:ext cx="393791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spc="-2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Razones de selección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670822" y="2754883"/>
            <a:ext cx="3937918" cy="410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Interpretable por profesionales de la salud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trazable paso a paso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Adecuado para datasets moderados</a:t>
            </a:r>
            <a:endParaRPr lang="en-US" sz="600" dirty="0"/>
          </a:p>
          <a:p>
            <a:pPr algn="l" marL="121920" indent="-121920">
              <a:lnSpc>
                <a:spcPct val="100000"/>
              </a:lnSpc>
              <a:buSzPct val="100000"/>
              <a:buChar char="•"/>
            </a:pPr>
            <a:r>
              <a:rPr lang="en-US" sz="60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Explicable frente a redes neuronales profundas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27434"/>
            <a:ext cx="696516" cy="153888"/>
          </a:xfrm>
          <a:prstGeom prst="roundRect">
            <a:avLst>
              <a:gd name="adj" fmla="val 2211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600745" y="457795"/>
            <a:ext cx="1032272" cy="93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METODOLOGÍA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40023" y="607888"/>
            <a:ext cx="8063954" cy="316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6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Entrenamiento y optimización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023938"/>
            <a:ext cx="8063954" cy="34831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4293" y="3478155"/>
            <a:ext cx="1197351" cy="218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spc="-4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División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464293" y="3758260"/>
            <a:ext cx="1197351" cy="43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0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70%/15%/15% para entrenamiento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38782" y="3766983"/>
            <a:ext cx="1197351" cy="218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spc="-4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CV 5-fold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538782" y="4047088"/>
            <a:ext cx="1197351" cy="144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0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con 5 folds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30865" y="1338237"/>
            <a:ext cx="1197351" cy="218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spc="-4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30865" y="1618342"/>
            <a:ext cx="1197351" cy="288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0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Limpiar y normalizar datos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026536" y="1338237"/>
            <a:ext cx="1197351" cy="218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spc="-4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Árbol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026536" y="1618342"/>
            <a:ext cx="1197351" cy="288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0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Entrenar con pre-pruning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020619" y="1338237"/>
            <a:ext cx="1197350" cy="218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spc="-4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GridSearch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20619" y="1618342"/>
            <a:ext cx="1197350" cy="43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0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Buscar hiperparámetros óptimos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0023" y="4581823"/>
            <a:ext cx="8521154" cy="134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Pre-pruning para reducir sobreajuste. Optimización mediante F1-score.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1020514"/>
            <a:ext cx="953542" cy="234479"/>
          </a:xfrm>
          <a:prstGeom prst="roundRect">
            <a:avLst>
              <a:gd name="adj" fmla="val 22111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1066800"/>
            <a:ext cx="122560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316682"/>
            <a:ext cx="806395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División de datos e hiperparámetros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0023" y="2184574"/>
            <a:ext cx="384378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División del 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0023" y="2579936"/>
            <a:ext cx="3843784" cy="101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Entrenamiento — 70% — 205</a:t>
            </a:r>
            <a:endParaRPr lang="en-US" sz="1200" dirty="0"/>
          </a:p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— 15% — 44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 — 15% — 45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4956" y="2184574"/>
            <a:ext cx="384378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Hiperparámetros óptimos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64956" y="2579936"/>
            <a:ext cx="3843784" cy="1404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 — Gini</a:t>
            </a:r>
            <a:endParaRPr lang="en-US" sz="1200" dirty="0"/>
          </a:p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Profundidad máx. — 8</a:t>
            </a:r>
            <a:endParaRPr lang="en-US" sz="1200" dirty="0"/>
          </a:p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Mín. muestras/hoja — 2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Mín. muestras/nodo — 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29369"/>
            <a:ext cx="953542" cy="234479"/>
          </a:xfrm>
          <a:prstGeom prst="roundRect">
            <a:avLst>
              <a:gd name="adj" fmla="val 22111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475655"/>
            <a:ext cx="122560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725537"/>
            <a:ext cx="806395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Métricas del modelo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0023" y="1516261"/>
            <a:ext cx="255939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b="1" spc="-1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77.8%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0023" y="2218283"/>
            <a:ext cx="255939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0023" y="2551956"/>
            <a:ext cx="2559397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clasificados correctamente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2301" y="1516261"/>
            <a:ext cx="255939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b="1" spc="-1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66.7%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2301" y="2218283"/>
            <a:ext cx="255939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Precisión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2301" y="2551956"/>
            <a:ext cx="2559397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los predichos positivos, reales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44580" y="1516261"/>
            <a:ext cx="255939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b="1" spc="-1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75.0%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44580" y="2218283"/>
            <a:ext cx="255939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Recall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44580" y="2551956"/>
            <a:ext cx="2559397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Clave en cribado:</a:t>
            </a:r>
            <a:pPr algn="ctr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detecta 3 de cada 4 casos de riesgo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16162" y="3431456"/>
            <a:ext cx="255939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b="1" spc="-1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70.6%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916162" y="4133478"/>
            <a:ext cx="255939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916162" y="4467151"/>
            <a:ext cx="2559397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Equilibrio precisión-recall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8441" y="3431456"/>
            <a:ext cx="255939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b="1" spc="-1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0.873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668441" y="4133478"/>
            <a:ext cx="255939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AUC-ROC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8441" y="4467151"/>
            <a:ext cx="2559397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Buena discriminación entre clases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646435"/>
            <a:ext cx="1354410" cy="234479"/>
          </a:xfrm>
          <a:prstGeom prst="roundRect">
            <a:avLst>
              <a:gd name="adj" fmla="val 22111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692721"/>
            <a:ext cx="162646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INTERPRETABILIDAD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942603"/>
            <a:ext cx="806395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aprendió el modelo?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829767"/>
            <a:ext cx="3843784" cy="2174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64956" y="1810494"/>
            <a:ext cx="384378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Hallazgos clave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64956" y="2205856"/>
            <a:ext cx="3843784" cy="1095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Angina por ejercicio:</a:t>
            </a:r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pregunta raíz del árbol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Frecuencia cardíaca máx.: segunda variable más influyente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Sexo: importancia baja (~3.2%)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64956" y="3474913"/>
            <a:ext cx="3843784" cy="848618"/>
          </a:xfrm>
          <a:prstGeom prst="roundRect">
            <a:avLst>
              <a:gd name="adj" fmla="val 7637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216" y="3708946"/>
            <a:ext cx="192881" cy="1542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66358" y="3652317"/>
            <a:ext cx="318812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variables clínicas funcionales dominan sobre las demográficas en la predicción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73943"/>
            <a:ext cx="1888034" cy="201439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619571" y="513680"/>
            <a:ext cx="2186136" cy="12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EQUIDAD · ÉTICA · CONCLUSIONES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0023" y="720923"/>
            <a:ext cx="8063954" cy="414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spc="-7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Equidad, limitaciones y cierre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0023" y="1420118"/>
            <a:ext cx="3870201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3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Rendimiento por sexo (n=45)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755502"/>
            <a:ext cx="3870201" cy="21892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0023" y="4072905"/>
            <a:ext cx="3870201" cy="468511"/>
          </a:xfrm>
          <a:prstGeom prst="roundRect">
            <a:avLst>
              <a:gd name="adj" fmla="val 11888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29" y="4246736"/>
            <a:ext cx="165720" cy="132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0955" y="4208562"/>
            <a:ext cx="3763863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Muestra femenina insuficiente (n=11). No concluyente.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738539" y="1420118"/>
            <a:ext cx="3870201" cy="20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3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Limitaciones principales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738539" y="1741289"/>
            <a:ext cx="3870201" cy="671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Muestra pequeña: 294 pacientes, 45 en prueba</a:t>
            </a:r>
            <a:endParaRPr lang="en-US" sz="1000" dirty="0"/>
          </a:p>
          <a:p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variables de raza ni nivel socioeconómico</a:t>
            </a:r>
            <a:endParaRPr lang="en-US" sz="1000" dirty="0"/>
          </a:p>
          <a:p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como apoyo, no reemplazo clínico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937447" y="2643187"/>
            <a:ext cx="4128492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 IA debe apoyar el juicio clínico, no reemplazarlo."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38539" y="2540645"/>
            <a:ext cx="14288" cy="402282"/>
          </a:xfrm>
          <a:prstGeom prst="roundRect">
            <a:avLst>
              <a:gd name="adj" fmla="val 49998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1039862"/>
            <a:ext cx="2196703" cy="234479"/>
          </a:xfrm>
          <a:prstGeom prst="roundRect">
            <a:avLst>
              <a:gd name="adj" fmla="val 22111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1086148"/>
            <a:ext cx="2468761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EQUIDAD · ÉTICA · CONCLUSIONES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336030"/>
            <a:ext cx="806395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Conclusiones y trabajo futuro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0023" y="2203921"/>
            <a:ext cx="316855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Trabajo futuro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0023" y="2599283"/>
            <a:ext cx="3168551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ampliado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centros clínicos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Equidad rigurosa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/ GBM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Evaluación real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21150" y="2362051"/>
            <a:ext cx="4287515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"Un buen modelo de IA en salud no solo debe predecir bien; también debe ser interpretable, evaluado rigurosamente y utilizado con responsabilidad."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89722" y="2223195"/>
            <a:ext cx="19050" cy="101843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4089722" y="3415159"/>
            <a:ext cx="497614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Gracias · Yuliana Arango López · Tecnológica del Oriente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2026-08-08T00:24:37Z</dcterms:created>
  <dcterms:modified xsi:type="dcterms:W3CDTF">2026-08-08T00:24:37Z</dcterms:modified>
</cp:coreProperties>
</file>